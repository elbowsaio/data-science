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RcDQvTBvKtjhjT4RzWtHqmynH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0CDDF8-2CF3-45D2-8817-105F1AFA2E47}">
  <a:tblStyle styleId="{E40CDDF8-2CF3-45D2-8817-105F1AFA2E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Good morning. I'm Ashton Merrick. This capstone segments a company's 2,240 customers so marketing spend can be targeted instead of broadcast.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I'll cover the problem, the approach, what was found, the proposed model, the four segments, the business solutions, and how to execute them.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First, customers form distinct groupings: the t-SNE projection on the left shows several well-separated groupings before any clustering, so segmentation is viable rather than forced.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Second, the strongest split is simply high versus low value: two clusters score best at 0.308, but two groups only re-state high spenders versus low spenders — too coarse to act on.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Third, the Gaussian Mixture Model is the best four-segment solution: 0.305 versus 0.205 for hierarchical clustering, nearly the two-cluster optimum with twice the granularity. Its four segments are the plot on the right.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Fourth, two small segments hold most of the campaign response: just 4.3 and 5.0 percent of customers, yet they accept the most offers — that is where targeted spend pays.</a:t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Three reasons for the Gaussian Mixture Model. Best separation among four-segment solutions: 0.305, versus 0.205 for hierarchical clustering and nearly the 0.308 of the coarse two-cluster optimum.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 probability for every customer: borderline customers can receive hybrid treatment, and campaign budget can be ordered by assignment confidence.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Stable and reproducible: fit from 15 random starts, the adopted solution recurred across four seeds at the best likelihood; any solution with a component under 50 customers was screened out as a known artifact.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table is the full comparison — K-Means highest at 0.308 but coarse, K-Medoids 0.242, hierarchical 0.205 as the fallback, the Gaussian Mixture 0.305, DBSCAN 0.221 with 15 percent unassigned — giving four segments of 1,318, 713, 112, and 97 customers.</a:t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Every figure here is a segment average. Budget-Conscious Low Engagers, 58.8 percent or 1,318 customers: income about 39,400; total spend about 200 dollars, median 92; 6.2 web visits a month but only 0.15 offers accepted; the most dependents and the youngest group.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Affluent High Spenders, 31.8 percent or 713 customers: income about 71,400; total spend about 1,242; the most purchases at 21.7, led by store and catalog; the fewest web visits; 0.58 offers accepted, none for campaign 4.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Deal-Driven Campaign-4 Responders, 5.0 percent or 112 customers: income about 52,200, spending tilted to wine; the most deal purchases and web visits; 76 percent accepted campaign 4; an 18 percent complaint rate — nearly all complainers.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Elite Multi-Campaign Responders, 4.3 percent or 97 customers: the highest income at about 80,200; total spend about 1,426, 93 dollars per purchase; 2.85 offers accepted each — 85 percent on campaign 4, 66 on 5, 56 on 6; the fewest deal purchases and the most PhDs.</a:t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Elite Multi-Campaign Responders: premium campaign launches, exclusive early access, loyalty and VIP programs, personalized high-end recommendations — the cost of contact is trivial relative to their response propensity.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Affluent High Spenders, the revenue core: cross-sell and up-sell premium products, brand-loyalty programs, quality-led messaging rather than discounts; their catalog and store usage suits high-touch channels.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Deal-Driven Campaign-4 Responders, price-sensitive and reachable digitally: promotional offers, bundles, and clear discounts via email and web, replicating what worked in campaign 4 — plus service recovery and satisfaction monitoring, because the complaint history sits here.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Budget-Conscious Low Engagers: broad campaigns are likely wasted, so value-focused marketing — affordability messaging, family-sized options, essential-product bundles — through digital, deal-led touchpoints, run as small test-and-learn offers with modest expectations.</a:t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Step one, pilot: target each segment with its recommended treatment and measure lift against a control group — turning a statistically coherent segmentation into a commercially validated one.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Step two, operationalize: assign every customer a segment and a probability, and refit on new data with the same 15-start, minimum-component-size rule so the segmentation stays reproducible.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Step three, refine: re-run the segmentation without the campaign flags and aggregate features, using them for profiling only — the change most likely to sharpen the segments.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Where the value comes from: redirect broad spend away from the 58.8 percent budget base, concentrate campaign effort on the 97 plus 112 customers with proven response, and run quality-led cross-sell to the 713-customer affluent core.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Keep in mind: the segments are not yet validated against business outcomes — the pilot closes that gap — and four segments is a deliberate trade-off of some separation for actionability.</a:t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b5ba1fa6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b5ba1fa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Every figure here is a segment average. Budget-Conscious Low Engagers, 58.8 percent or 1,318 customers: income about 39,400; total spend about 200 dollars, median 92; 6.2 web visits a month but only 0.15 offers accepted; the most dependents and the youngest group.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Affluent High Spenders, 31.8 percent or 713 customers: income about 71,400; total spend about 1,242; the most purchases at 21.7, led by store and catalog; the fewest web visits; 0.58 offers accepted, none for campaign 4.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Deal-Driven Campaign-4 Responders, 5.0 percent or 112 customers: income about 52,200, spending tilted to wine; the most deal purchases and web visits; 76 percent accepted campaign 4; an 18 percent complaint rate — nearly all complainers.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Elite Multi-Campaign Responders, 4.3 percent or 97 customers: the highest income at about 80,200; total spend about 1,426, 93 dollars per purchase; 2.85 offers accepted each — 85 percent on campaign 4, 66 on 5, 56 on 6; the fewest deal purchases and the most PhDs.</a:t>
            </a:r>
            <a:endParaRPr/>
          </a:p>
        </p:txBody>
      </p:sp>
      <p:sp>
        <p:nvSpPr>
          <p:cNvPr id="277" name="Google Shape;277;g3fb5ba1fa6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Thank you. The appendix holds the data preparation, the full model comparison, the diagnostics behind each method, and the complete segment profile. Happy to take questions.</a:t>
            </a:r>
            <a:endParaRPr/>
          </a:p>
        </p:txBody>
      </p:sp>
      <p:sp>
        <p:nvSpPr>
          <p:cNvPr id="304" name="Google Shape;3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Appendix divider — reference material for Q&amp;A.</a:t>
            </a:r>
            <a:endParaRPr/>
          </a:p>
        </p:txBody>
      </p:sp>
      <p:sp>
        <p:nvSpPr>
          <p:cNvPr id="312" name="Google Shape;31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data treatments and engineered features.</a:t>
            </a:r>
            <a:endParaRPr/>
          </a:p>
        </p:txBody>
      </p:sp>
      <p:sp>
        <p:nvSpPr>
          <p:cNvPr id="319" name="Google Shape;31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the quantitative model comparison table from the notebook.</a:t>
            </a:r>
            <a:endParaRPr/>
          </a:p>
        </p:txBody>
      </p:sp>
      <p:sp>
        <p:nvSpPr>
          <p:cNvPr id="336" name="Google Shape;3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elbow and silhouette curves behind the K choice.</a:t>
            </a:r>
            <a:endParaRPr/>
          </a:p>
        </p:txBody>
      </p:sp>
      <p:sp>
        <p:nvSpPr>
          <p:cNvPr id="354" name="Google Shape;3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the two K=2 partitioning solutions and their profiles.</a:t>
            </a:r>
            <a:endParaRPr/>
          </a:p>
        </p:txBody>
      </p:sp>
      <p:sp>
        <p:nvSpPr>
          <p:cNvPr id="369" name="Google Shape;36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hierarchical clustering diagnostics — dendrogram cut, silhouette sweep, cophenetic correlations, and the four Ward clusters that corroborate the GMM segments.</a:t>
            </a:r>
            <a:endParaRPr/>
          </a:p>
        </p:txBody>
      </p:sp>
      <p:sp>
        <p:nvSpPr>
          <p:cNvPr id="380" name="Google Shape;38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DBSCAN hyperparameter selection (k-distance plot and grid search) and why the result is treated as diagnostic rather than as the segmentation of record.</a:t>
            </a:r>
            <a:endParaRPr/>
          </a:p>
        </p:txBody>
      </p:sp>
      <p:sp>
        <p:nvSpPr>
          <p:cNvPr id="394" name="Google Shape;3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BIC/AIC evidence and the stability logic behind the four-component choice.</a:t>
            </a:r>
            <a:endParaRPr/>
          </a:p>
        </p:txBody>
      </p:sp>
      <p:sp>
        <p:nvSpPr>
          <p:cNvPr id="407" name="Google Shape;4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the multi-start stability table behind the final model selection.</a:t>
            </a:r>
            <a:endParaRPr/>
          </a:p>
        </p:txBody>
      </p:sp>
      <p:sp>
        <p:nvSpPr>
          <p:cNvPr id="429" name="Google Shape;42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selected rows of the original-units profile table for the final GMM segments.</a:t>
            </a:r>
            <a:endParaRPr/>
          </a:p>
        </p:txBody>
      </p:sp>
      <p:sp>
        <p:nvSpPr>
          <p:cNvPr id="440" name="Google Shape;44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Reference: full-feature boxplot profile of the GMM segments.</a:t>
            </a:r>
            <a:endParaRPr/>
          </a:p>
        </p:txBody>
      </p:sp>
      <p:sp>
        <p:nvSpPr>
          <p:cNvPr id="449" name="Google Shape;44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21.png"/><Relationship Id="rId9" Type="http://schemas.openxmlformats.org/officeDocument/2006/relationships/image" Target="../media/image3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32.pn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image" Target="../media/image23.pn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 CAMPAIGN ANALYSIS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548640" y="301752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FE7E8"/>
                </a:solidFill>
                <a:latin typeface="Calibri"/>
                <a:ea typeface="Calibri"/>
                <a:cs typeface="Calibri"/>
                <a:sym typeface="Calibri"/>
              </a:rPr>
              <a:t>Customer segmentation to optimize marketing efforts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3977640"/>
            <a:ext cx="822960" cy="54864"/>
          </a:xfrm>
          <a:prstGeom prst="rect">
            <a:avLst/>
          </a:prstGeom>
          <a:solidFill>
            <a:srgbClr val="E0A23A"/>
          </a:solidFill>
          <a:ln cap="flat" cmpd="sng" w="12700">
            <a:solidFill>
              <a:srgbClr val="E0A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7E8"/>
                </a:solidFill>
                <a:latin typeface="Calibri"/>
                <a:ea typeface="Calibri"/>
                <a:cs typeface="Calibri"/>
                <a:sym typeface="Calibri"/>
              </a:rPr>
              <a:t>Capstone Project  ·  Presented by Ashton Merrick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537960" y="1234440"/>
            <a:ext cx="5105095" cy="4983480"/>
          </a:xfrm>
          <a:prstGeom prst="roundRect">
            <a:avLst>
              <a:gd fmla="val 2202" name="adj"/>
            </a:avLst>
          </a:prstGeom>
          <a:solidFill>
            <a:srgbClr val="2B3A42"/>
          </a:solidFill>
          <a:ln cap="flat" cmpd="sng" w="12700">
            <a:solidFill>
              <a:srgbClr val="2B3A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858000" y="1828800"/>
            <a:ext cx="4465015" cy="960120"/>
          </a:xfrm>
          <a:prstGeom prst="roundRect">
            <a:avLst>
              <a:gd fmla="val 14286" name="adj"/>
            </a:avLst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7040880" y="1828800"/>
            <a:ext cx="409925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 time, money, and other critical resources are limited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889340" y="2862072"/>
            <a:ext cx="402336" cy="31089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7E8"/>
          </a:solidFill>
          <a:ln cap="flat" cmpd="sng" w="12700">
            <a:solidFill>
              <a:srgbClr val="CFE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858000" y="3246120"/>
            <a:ext cx="4465015" cy="960120"/>
          </a:xfrm>
          <a:prstGeom prst="roundRect">
            <a:avLst>
              <a:gd fmla="val 14286" name="adj"/>
            </a:avLst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7040880" y="3246120"/>
            <a:ext cx="409925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Segmentation targets different groups of customers to drive engagement and higher conversion rates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889340" y="4279392"/>
            <a:ext cx="402336" cy="31089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7E8"/>
          </a:solidFill>
          <a:ln cap="flat" cmpd="sng" w="12700">
            <a:solidFill>
              <a:srgbClr val="CFE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858000" y="4663440"/>
            <a:ext cx="4465015" cy="960120"/>
          </a:xfrm>
          <a:prstGeom prst="roundRect">
            <a:avLst>
              <a:gd fmla="val 14286" name="adj"/>
            </a:avLst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7040880" y="4663440"/>
            <a:ext cx="409925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Better-targeted efforts strengthen marketing ROI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242965" y="1578280"/>
            <a:ext cx="384000" cy="3840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444" y="1662746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 txBox="1"/>
          <p:nvPr/>
        </p:nvSpPr>
        <p:spPr>
          <a:xfrm>
            <a:off x="2390106" y="1559975"/>
            <a:ext cx="2238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Problem to solve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633125" y="2208897"/>
            <a:ext cx="5577900" cy="19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Create a clustering methodology that segments the customer base, so the marketing team can optimize its efforts and provide a tailored, more personalized experience for its customers.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1F2A30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What do the different segments of customers look like?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1F2A30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What efforts will each segment likely respond to or engage with?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4892040"/>
            <a:ext cx="5577840" cy="1325880"/>
          </a:xfrm>
          <a:prstGeom prst="roundRect">
            <a:avLst>
              <a:gd fmla="val 8276" name="adj"/>
            </a:avLst>
          </a:prstGeom>
          <a:solidFill>
            <a:srgbClr val="E3F3F3"/>
          </a:solidFill>
          <a:ln cap="flat" cmpd="sng" w="9525">
            <a:solidFill>
              <a:srgbClr val="E3F3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777240" y="49834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The nature of the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777240" y="530352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No customer comes with a "correct" segment label.</a:t>
            </a:r>
            <a:endParaRPr b="0" i="0" sz="1250" u="none" cap="none" strike="noStrike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Groups have to be discovered from purchasing behavior, then judged on how distinct and how actionable they are.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Our approach: from data to segments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8640" y="1371600"/>
            <a:ext cx="2464994" cy="3749040"/>
          </a:xfrm>
          <a:prstGeom prst="roundRect">
            <a:avLst>
              <a:gd fmla="val 4451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" name="Google Shape;5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941" y="1720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 txBox="1"/>
          <p:nvPr/>
        </p:nvSpPr>
        <p:spPr>
          <a:xfrm>
            <a:off x="2190674" y="15544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9D2D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777240" y="2331720"/>
            <a:ext cx="200779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Understand the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777240" y="3154680"/>
            <a:ext cx="200779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2,240 customers and 27 attributes: demographics, spending over the last 2 years in 6 product categories, purchase channels and web activity, and the outcomes of 6 campaigns plus complaints.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068498" y="3017520"/>
            <a:ext cx="301752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6CC"/>
          </a:solidFill>
          <a:ln cap="flat" cmpd="sng" w="12700">
            <a:solidFill>
              <a:srgbClr val="B9C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425114" y="1371600"/>
            <a:ext cx="2464994" cy="3749040"/>
          </a:xfrm>
          <a:prstGeom prst="roundRect">
            <a:avLst>
              <a:gd fmla="val 4451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3714" y="1600200"/>
            <a:ext cx="548640" cy="54864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4415" y="1720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/>
          <p:nvPr/>
        </p:nvSpPr>
        <p:spPr>
          <a:xfrm>
            <a:off x="5067148" y="15544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9D2D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3653714" y="2331720"/>
            <a:ext cx="200779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Prepare 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3653714" y="3154680"/>
            <a:ext cx="200779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Fix errors and gaps (outliers, 24 missing incomes, 3 implausible birth years) and build the measures the business thinks in: total spend, tenure, family size, amount per purchase.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944972" y="3017520"/>
            <a:ext cx="301752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6CC"/>
          </a:solidFill>
          <a:ln cap="flat" cmpd="sng" w="12700">
            <a:solidFill>
              <a:srgbClr val="B9C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301588" y="1371600"/>
            <a:ext cx="2464994" cy="3749040"/>
          </a:xfrm>
          <a:prstGeom prst="roundRect">
            <a:avLst>
              <a:gd fmla="val 4451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530188" y="1600200"/>
            <a:ext cx="548640" cy="54864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0888" y="1720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7943621" y="15544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9D2D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6530188" y="2331720"/>
            <a:ext cx="200779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Find natural groupings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6530188" y="3154680"/>
            <a:ext cx="200779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25 behavioral measures standardized and clustered with five different methods, all compared on one yardstick.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821445" y="3017520"/>
            <a:ext cx="301752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6CC"/>
          </a:solidFill>
          <a:ln cap="flat" cmpd="sng" w="12700">
            <a:solidFill>
              <a:srgbClr val="B9C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178061" y="1371600"/>
            <a:ext cx="2464994" cy="3749040"/>
          </a:xfrm>
          <a:prstGeom prst="roundRect">
            <a:avLst>
              <a:gd fmla="val 4451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406661" y="1600200"/>
            <a:ext cx="548640" cy="548640"/>
          </a:xfrm>
          <a:prstGeom prst="ellipse">
            <a:avLst/>
          </a:prstGeom>
          <a:solidFill>
            <a:srgbClr val="E0A23A"/>
          </a:solidFill>
          <a:ln cap="flat" cmpd="sng" w="12700">
            <a:solidFill>
              <a:srgbClr val="E0A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7362" y="17209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 txBox="1"/>
          <p:nvPr/>
        </p:nvSpPr>
        <p:spPr>
          <a:xfrm>
            <a:off x="10820095" y="15544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9D2D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9406661" y="2331720"/>
            <a:ext cx="200779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Profile and act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9406661" y="3154680"/>
            <a:ext cx="200779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Describe each group in plain business terms, using the demographics held back for profiling, and decide what to do with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8640" y="5394960"/>
            <a:ext cx="11094415" cy="822960"/>
          </a:xfrm>
          <a:prstGeom prst="roundRect">
            <a:avLst>
              <a:gd fmla="val 13333" name="adj"/>
            </a:avLst>
          </a:prstGeom>
          <a:solidFill>
            <a:srgbClr val="E3F3F3"/>
          </a:solidFill>
          <a:ln cap="flat" cmpd="sng" w="9525">
            <a:solidFill>
              <a:srgbClr val="E3F3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777240" y="5486400"/>
            <a:ext cx="106372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Segmentation attributes versus profiling attributes: behavior (income, spending, channels, campaign responses) defines the segments; demographics (age, dependents, education, marital status) describe them afterwards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Our approach: five methods, one yardstick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48640" y="1325880"/>
            <a:ext cx="2036003" cy="2148840"/>
          </a:xfrm>
          <a:prstGeom prst="roundRect">
            <a:avLst>
              <a:gd fmla="val 5389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731520" y="146304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2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0A23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731520" y="2011680"/>
            <a:ext cx="167024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K-Means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731520" y="2423160"/>
            <a:ext cx="1670243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Groups customers around the center of each segment.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813243" y="1325880"/>
            <a:ext cx="2036003" cy="2148840"/>
          </a:xfrm>
          <a:prstGeom prst="roundRect">
            <a:avLst>
              <a:gd fmla="val 5389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2996123" y="146304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2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0A23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2996123" y="2011680"/>
            <a:ext cx="167024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K-Medoids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2996123" y="2423160"/>
            <a:ext cx="1670243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Like K-Means, but each center is a real customer, so unusual customers distort it less.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077846" y="1325880"/>
            <a:ext cx="2036003" cy="2148840"/>
          </a:xfrm>
          <a:prstGeom prst="roundRect">
            <a:avLst>
              <a:gd fmla="val 5389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5260726" y="146304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2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0A23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5260726" y="2011680"/>
            <a:ext cx="167024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Hierarchical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5260726" y="2423160"/>
            <a:ext cx="1670243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Builds a tree of similar customers and cuts it into segments.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342449" y="1325880"/>
            <a:ext cx="2036003" cy="2148840"/>
          </a:xfrm>
          <a:prstGeom prst="roundRect">
            <a:avLst>
              <a:gd fmla="val 5389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7525329" y="146304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2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0A23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7525329" y="2011680"/>
            <a:ext cx="167024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DBSCAN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7525329" y="2423160"/>
            <a:ext cx="1670243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Finds dense groups of similar customers and flags outliers that fit nowhere.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9607052" y="1325880"/>
            <a:ext cx="2036003" cy="2148840"/>
          </a:xfrm>
          <a:prstGeom prst="roundRect">
            <a:avLst>
              <a:gd fmla="val 5389" name="adj"/>
            </a:avLst>
          </a:prstGeom>
          <a:solidFill>
            <a:srgbClr val="E3F3F3"/>
          </a:solidFill>
          <a:ln cap="flat" cmpd="sng" w="15875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9789932" y="146304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9789932" y="2011680"/>
            <a:ext cx="167024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Gaussian Mixture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9789932" y="2423160"/>
            <a:ext cx="1670243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Gives every customer a probability of belonging to each segment.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48640" y="3749040"/>
            <a:ext cx="6400800" cy="2286000"/>
          </a:xfrm>
          <a:prstGeom prst="roundRect">
            <a:avLst>
              <a:gd fmla="val 4800" name="adj"/>
            </a:avLst>
          </a:prstGeom>
          <a:solidFill>
            <a:srgbClr val="FFF6E5"/>
          </a:solidFill>
          <a:ln cap="flat" cmpd="sng" w="9525">
            <a:solidFill>
              <a:srgbClr val="FFF6E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31515" y="4515515"/>
            <a:ext cx="457200" cy="457200"/>
          </a:xfrm>
          <a:prstGeom prst="ellipse">
            <a:avLst/>
          </a:prstGeom>
          <a:solidFill>
            <a:srgbClr val="E0A23A"/>
          </a:solidFill>
          <a:ln cap="flat" cmpd="sng" w="12700">
            <a:solidFill>
              <a:srgbClr val="E0A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12" y="4616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1280082" y="3931920"/>
            <a:ext cx="530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One yardstick: the silhouette score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280145" y="4069081"/>
            <a:ext cx="5303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A separation score from -1 to 1: how similar each customer is to their own segment versus the nearest other segment. Higher means tighter, better-separated segments. Every method is scored on the same standardized data, so the comparison is like-for-like.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223760" y="3749040"/>
            <a:ext cx="4419295" cy="2286000"/>
          </a:xfrm>
          <a:prstGeom prst="roundRect">
            <a:avLst>
              <a:gd fmla="val 4800" name="adj"/>
            </a:avLst>
          </a:prstGeom>
          <a:solidFill>
            <a:srgbClr val="E3F3F3"/>
          </a:solidFill>
          <a:ln cap="flat" cmpd="sng" w="9525">
            <a:solidFill>
              <a:srgbClr val="E3F3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452373" y="4515515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2957" y="4616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8092440" y="3931920"/>
            <a:ext cx="3322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Then: are the segments actionable?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8092440" y="4137656"/>
            <a:ext cx="332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The best score is not automatically the best answer for marketing. A solution also has to produce segments that are large enough to matter, distinct in behavior, and translatable into a treatment the team can run.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What was found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8640" y="1280160"/>
            <a:ext cx="5387188" cy="1207008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31520" y="1627632"/>
            <a:ext cx="475488" cy="47548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127" y="1732239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/>
        </p:nvSpPr>
        <p:spPr>
          <a:xfrm>
            <a:off x="1371600" y="1417320"/>
            <a:ext cx="43813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Customers form distinct groupings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1371600" y="1783080"/>
            <a:ext cx="43813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A t-SNE projection shows several distinct, well-separated groupings, so segmentation is viable rather than forced.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255868" y="1280160"/>
            <a:ext cx="5387188" cy="1207008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38748" y="1627632"/>
            <a:ext cx="475488" cy="47548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3355" y="1732239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7078828" y="1417320"/>
            <a:ext cx="43813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The strongest split is simply high vs low value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7078828" y="1783080"/>
            <a:ext cx="43813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Two clusters score best on separation (0.308), but two groups only re-state "high spenders vs low spenders" — too coarse to act 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2715768"/>
            <a:ext cx="5387188" cy="1207008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731520" y="3063240"/>
            <a:ext cx="475488" cy="47548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127" y="316784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1371600" y="2852928"/>
            <a:ext cx="43813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The GMM is the best 4-segment solution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1371600" y="3218688"/>
            <a:ext cx="43813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Separation 0.305 vs 0.205 for hierarchical clustering — nearly matching the 2-cluster optimum with twice the granularity.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255868" y="2715768"/>
            <a:ext cx="5387188" cy="1207008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438748" y="3063240"/>
            <a:ext cx="475488" cy="475488"/>
          </a:xfrm>
          <a:prstGeom prst="ellipse">
            <a:avLst/>
          </a:prstGeom>
          <a:solidFill>
            <a:srgbClr val="E0A23A"/>
          </a:solidFill>
          <a:ln cap="flat" cmpd="sng" w="12700">
            <a:solidFill>
              <a:srgbClr val="E0A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3355" y="316784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/>
        </p:nvSpPr>
        <p:spPr>
          <a:xfrm>
            <a:off x="7078828" y="2852928"/>
            <a:ext cx="43813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Two small segments hold most of the campaign response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7078828" y="3218688"/>
            <a:ext cx="43813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Just 4.3% and 5.0% of customers, yet they accept the most offers — where targeted spend pays.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073_img20.png" id="142" name="Google Shape;14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738" y="4225000"/>
            <a:ext cx="4875001" cy="2034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apstone/deck/figs/cell158_img37.png" id="143" name="Google Shape;14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1949" y="4091450"/>
            <a:ext cx="4875000" cy="21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1341588" y="6381500"/>
            <a:ext cx="380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t-SNE projection of the 25 standardized behavioral features: distinct groupings.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6585001" y="6381500"/>
            <a:ext cx="472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The four GMM segments projected onto two principal components.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Proposed model: Gaussian Mixture Model with four segments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48640" y="1280160"/>
            <a:ext cx="5852160" cy="1143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31520" y="1600200"/>
            <a:ext cx="475488" cy="47548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127" y="170480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1371600" y="13898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Best separation among 4-segment solutions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1371600" y="1755648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Silhouette 0.305 on hard assignments — versus 0.205 for hierarchical clustering, and nearly the 0.308 of the coarse 2-cluster optimum.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48640" y="2578608"/>
            <a:ext cx="5852160" cy="1143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31520" y="2898648"/>
            <a:ext cx="475488" cy="47548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0" name="Google Shape;16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127" y="3003255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 txBox="1"/>
          <p:nvPr/>
        </p:nvSpPr>
        <p:spPr>
          <a:xfrm>
            <a:off x="1371600" y="268833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 probability for every customer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1371600" y="3054096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Soft assignments: borderline customers can receive hybrid treatment, and within a segment campaign budget can be ordered by assignment confidence.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48640" y="3877056"/>
            <a:ext cx="5852160" cy="1143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31520" y="4197096"/>
            <a:ext cx="475488" cy="47548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5" name="Google Shape;16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127" y="4301703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1371600" y="398678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Stable and reproducible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371600" y="4352544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Fit from 15 random starts; the adopted solution recurred across four seeds at the best likelihood, and any solution with a component under 50 customers was screened out as a known artifact.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48640" y="5212080"/>
            <a:ext cx="5852160" cy="1005840"/>
          </a:xfrm>
          <a:prstGeom prst="roundRect">
            <a:avLst>
              <a:gd fmla="val 10909" name="adj"/>
            </a:avLst>
          </a:prstGeom>
          <a:solidFill>
            <a:srgbClr val="E3F3F3"/>
          </a:solidFill>
          <a:ln cap="flat" cmpd="sng" w="9525">
            <a:solidFill>
              <a:srgbClr val="E3F3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777240" y="5303520"/>
            <a:ext cx="5394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Fallback: hierarchical clustering (Ward linkage, 4 clusters) produced segments highly consistent with the GMM's and is the simpler, easier-to-communicate alternative — at the cost of weaker separation (0.205) and no assignment probabilities.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6766560" y="1280160"/>
            <a:ext cx="48764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How the five approaches compared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6"/>
          <p:cNvGraphicFramePr/>
          <p:nvPr/>
        </p:nvGraphicFramePr>
        <p:xfrm>
          <a:off x="676656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{E40CDDF8-2CF3-45D2-8817-105F1AFA2E47}</a:tableStyleId>
              </a:tblPr>
              <a:tblGrid>
                <a:gridCol w="1417325"/>
                <a:gridCol w="868675"/>
                <a:gridCol w="1097275"/>
                <a:gridCol w="14932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Approach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Segments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K-Means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Highest, but coarse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K-Medoids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Balanced; weaker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Hierarchical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Fallback option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Gaussian Mixture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8B8D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8B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Proposed model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DBSCAN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+ noise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 unassigned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6"/>
          <p:cNvSpPr txBox="1"/>
          <p:nvPr/>
        </p:nvSpPr>
        <p:spPr>
          <a:xfrm>
            <a:off x="6766560" y="4434840"/>
            <a:ext cx="48764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Silhouette score on the standardized clustering features; DBSCAN scored on its clustered points, GMM on its most-probable assignments. Full table in the appendix.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766560" y="5212080"/>
            <a:ext cx="4876495" cy="1005840"/>
          </a:xfrm>
          <a:prstGeom prst="roundRect">
            <a:avLst>
              <a:gd fmla="val 10909" name="adj"/>
            </a:avLst>
          </a:prstGeom>
          <a:solidFill>
            <a:srgbClr val="FFF6E5"/>
          </a:solidFill>
          <a:ln cap="flat" cmpd="sng" w="9525">
            <a:solidFill>
              <a:srgbClr val="FFF6E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6995160" y="5120640"/>
            <a:ext cx="441929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4 segments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7102735" y="5714997"/>
            <a:ext cx="441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1,318 · 713 · 112 · 97 customers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The four customer segments (segment averages)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48640" y="1234440"/>
            <a:ext cx="2602154" cy="4983480"/>
          </a:xfrm>
          <a:prstGeom prst="roundRect">
            <a:avLst>
              <a:gd fmla="val 4217" name="adj"/>
            </a:avLst>
          </a:prstGeom>
          <a:solidFill>
            <a:srgbClr val="E7E2F3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9900FF"/>
          </a:solidFill>
          <a:ln cap="flat" cmpd="sng" w="12700">
            <a:solidFill>
              <a:srgbClr val="2B3A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5" name="Google Shape;18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04" y="15179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 txBox="1"/>
          <p:nvPr/>
        </p:nvSpPr>
        <p:spPr>
          <a:xfrm>
            <a:off x="1325880" y="1325880"/>
            <a:ext cx="164203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58.8%</a:t>
            </a:r>
            <a:endParaRPr b="0" i="0" sz="3000" u="none" cap="none" strike="noStrike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731520" y="2057400"/>
            <a:ext cx="223639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Budget-Conscious Low Engagers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731520" y="2761488"/>
            <a:ext cx="223639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1,318 customers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731520" y="3154680"/>
            <a:ext cx="2236394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Income about $39,400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Total spend about $200 (median $92)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10.6 purchases; 6.2 web visits/month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0.15 offers accepted; 1.23 dependents (most)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Youngest (age 45.9); nearly all Basic-education customers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379394" y="1234440"/>
            <a:ext cx="2602154" cy="4983480"/>
          </a:xfrm>
          <a:prstGeom prst="roundRect">
            <a:avLst>
              <a:gd fmla="val 4217" name="adj"/>
            </a:avLst>
          </a:prstGeom>
          <a:solidFill>
            <a:srgbClr val="E2EBD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D9EAD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562274" y="1417320"/>
            <a:ext cx="457200" cy="4572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2B3A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2" name="Google Shape;19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2858" y="15179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4156634" y="1325880"/>
            <a:ext cx="164203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31.8%</a:t>
            </a:r>
            <a:endParaRPr b="0" i="0" sz="3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3562274" y="2057400"/>
            <a:ext cx="223639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Affluent High Spenders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3562274" y="2761488"/>
            <a:ext cx="223639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713 customers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3562274" y="3154680"/>
            <a:ext cx="2236394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Income about $71,400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Total spend about $1,242 (median $1,174)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21.7 purchases (most): 8.4 store, 5.5 catalog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3.6 web visits/month (fewest); 0.58 offers accepted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0.48 dependents; 0% accepted campaign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210148" y="1234440"/>
            <a:ext cx="2602154" cy="4983480"/>
          </a:xfrm>
          <a:prstGeom prst="roundRect">
            <a:avLst>
              <a:gd fmla="val 4217" name="adj"/>
            </a:avLst>
          </a:prstGeom>
          <a:solidFill>
            <a:srgbClr val="FFF6E5"/>
          </a:solidFill>
          <a:ln cap="flat" cmpd="sng" w="9525">
            <a:solidFill>
              <a:srgbClr val="FFF6E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393028" y="1417320"/>
            <a:ext cx="457200" cy="457200"/>
          </a:xfrm>
          <a:prstGeom prst="ellipse">
            <a:avLst/>
          </a:prstGeom>
          <a:solidFill>
            <a:srgbClr val="E0A23A"/>
          </a:solidFill>
          <a:ln cap="flat" cmpd="sng" w="12700">
            <a:solidFill>
              <a:srgbClr val="E0A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9" name="Google Shape;19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3612" y="15179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6987388" y="1325880"/>
            <a:ext cx="164203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2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0A23A"/>
                </a:solidFill>
                <a:latin typeface="Calibri"/>
                <a:ea typeface="Calibri"/>
                <a:cs typeface="Calibri"/>
                <a:sym typeface="Calibri"/>
              </a:rPr>
              <a:t>5.0%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6393028" y="2057400"/>
            <a:ext cx="223639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Deal-Driven Campaign-4 Responders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6393028" y="2761488"/>
            <a:ext cx="223639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112 customers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6393028" y="3154680"/>
            <a:ext cx="2236394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Income about $52,200; wine-tilted ($459 of $626)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3.5 deal purchases (most); 6.5 web visits (most)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76% accepted campaign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18% complaint rate — nearly all complainers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Oldest on average (age 51); 1.12 dependents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9040901" y="1234440"/>
            <a:ext cx="2602154" cy="4983480"/>
          </a:xfrm>
          <a:prstGeom prst="roundRect">
            <a:avLst>
              <a:gd fmla="val 4217" name="adj"/>
            </a:avLst>
          </a:prstGeom>
          <a:solidFill>
            <a:srgbClr val="E3F3F3"/>
          </a:solidFill>
          <a:ln cap="flat" cmpd="sng" w="9525">
            <a:solidFill>
              <a:srgbClr val="E3F3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9223781" y="1417320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6" name="Google Shape;20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4365" y="15179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9818141" y="1325880"/>
            <a:ext cx="164203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4.3%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9223781" y="2057400"/>
            <a:ext cx="223639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Elite Multi-Campaign Responders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9223781" y="2761488"/>
            <a:ext cx="223639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97 customers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9223781" y="3154680"/>
            <a:ext cx="2236394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Income about $80,200 (highest)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Total spend about $1,426; $93 per purchase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2.85 offers accepted per customer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85% Cmp4 · 66% Cmp5 · 56% Cmp6 · 30% Cmp2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1.33 deal purchases (fewest); 0.39 dependents; 29% PhD (most)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Proposed business solutions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48640" y="1234440"/>
            <a:ext cx="11094415" cy="1078992"/>
          </a:xfrm>
          <a:prstGeom prst="roundRect">
            <a:avLst>
              <a:gd fmla="val 10169" name="adj"/>
            </a:avLst>
          </a:prstGeom>
          <a:solidFill>
            <a:srgbClr val="E7E2F3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31520" y="1527048"/>
            <a:ext cx="475488" cy="475488"/>
          </a:xfrm>
          <a:prstGeom prst="ellipse">
            <a:avLst/>
          </a:prstGeom>
          <a:solidFill>
            <a:srgbClr val="9900FF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0" name="Google Shape;2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127" y="1631655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1417320" y="1344168"/>
            <a:ext cx="99971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Elite Multi-Campaign Responders (4.3%)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1417320" y="1691640"/>
            <a:ext cx="99971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Prioritize for premium campaign launches, exclusive early access, loyalty/VIP programs, and personalized high-end recommendations. Cost of contact is trivial relative to their response propensity.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48640" y="2450592"/>
            <a:ext cx="11094415" cy="1078992"/>
          </a:xfrm>
          <a:prstGeom prst="roundRect">
            <a:avLst>
              <a:gd fmla="val 10169" name="adj"/>
            </a:avLst>
          </a:prstGeom>
          <a:solidFill>
            <a:srgbClr val="E2EBD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731520" y="2743200"/>
            <a:ext cx="475488" cy="475488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2B3A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5" name="Google Shape;22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127" y="2847807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 txBox="1"/>
          <p:nvPr/>
        </p:nvSpPr>
        <p:spPr>
          <a:xfrm>
            <a:off x="1417320" y="2560320"/>
            <a:ext cx="99971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Affluent High Spenders (31.8%)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1417320" y="2907792"/>
            <a:ext cx="99971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The revenue core. Cross-sell and up-sell premium products, brand-loyalty programs, quality-led messaging rather than discounts; their catalog and store usage suits high-touch channels.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48640" y="3666744"/>
            <a:ext cx="11094415" cy="1078992"/>
          </a:xfrm>
          <a:prstGeom prst="roundRect">
            <a:avLst>
              <a:gd fmla="val 10169" name="adj"/>
            </a:avLst>
          </a:prstGeom>
          <a:solidFill>
            <a:srgbClr val="FFF6E5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31520" y="3959352"/>
            <a:ext cx="475488" cy="475488"/>
          </a:xfrm>
          <a:prstGeom prst="ellipse">
            <a:avLst/>
          </a:prstGeom>
          <a:solidFill>
            <a:srgbClr val="E0A23A"/>
          </a:solidFill>
          <a:ln cap="flat" cmpd="sng" w="12700">
            <a:solidFill>
              <a:srgbClr val="E0A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0" name="Google Shape;23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127" y="4063959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 txBox="1"/>
          <p:nvPr/>
        </p:nvSpPr>
        <p:spPr>
          <a:xfrm>
            <a:off x="1417320" y="3776472"/>
            <a:ext cx="99971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Deal-Driven Campaign-4 Responders (5.0%)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1417320" y="4123944"/>
            <a:ext cx="9997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Price-sensitive and reachable digitally: promotional offers, bundles, clearly communicated discounts via email and web; replicate what worked in campaign 4. Their complaint history makes service recovery and satisfaction monitoring worthwhile.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48640" y="4882896"/>
            <a:ext cx="11094415" cy="1078992"/>
          </a:xfrm>
          <a:prstGeom prst="roundRect">
            <a:avLst>
              <a:gd fmla="val 10169" name="adj"/>
            </a:avLst>
          </a:prstGeom>
          <a:solidFill>
            <a:srgbClr val="E3F3F3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731520" y="5175504"/>
            <a:ext cx="475488" cy="47548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2B3A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5" name="Google Shape;23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6127" y="5280111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 txBox="1"/>
          <p:nvPr/>
        </p:nvSpPr>
        <p:spPr>
          <a:xfrm>
            <a:off x="1417320" y="4992624"/>
            <a:ext cx="99971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Budget-Conscious Low Engagers (58.8%)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1417320" y="5340096"/>
            <a:ext cx="999713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Broad campaigns are likely wasted. Value-focused marketing: affordability messaging, family-sized options, essential-product bundles through digital, deal-led touchpoints — run as small test-and-learn offers with modest conversion expectations.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Executing the solution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48640" y="1280160"/>
            <a:ext cx="667512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31520" y="1737360"/>
            <a:ext cx="512064" cy="51206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7" name="Google Shape;2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174" y="1850014"/>
            <a:ext cx="286756" cy="2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 txBox="1"/>
          <p:nvPr/>
        </p:nvSpPr>
        <p:spPr>
          <a:xfrm>
            <a:off x="1243570" y="128013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1700771" y="1325900"/>
            <a:ext cx="103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Pilot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1417320" y="1847088"/>
            <a:ext cx="557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Target each segment with its recommended treatment and measure lift against a control group — turning a statistically coherent segmentation into a commercially validated 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48640" y="2926080"/>
            <a:ext cx="667512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731520" y="3383280"/>
            <a:ext cx="512064" cy="51206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3" name="Google Shape;25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174" y="3495934"/>
            <a:ext cx="286756" cy="2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/>
          <p:nvPr/>
        </p:nvSpPr>
        <p:spPr>
          <a:xfrm>
            <a:off x="1243570" y="298094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1700771" y="3022100"/>
            <a:ext cx="143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Operationalize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1417320" y="3493008"/>
            <a:ext cx="557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Assign every customer a segment and an assignment probability. When new data arrives, refit the 4-segment model with the same 15-start, minimum-component-size selection rule so the segmentation stays reproducible.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48640" y="4572000"/>
            <a:ext cx="667512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31520" y="5029200"/>
            <a:ext cx="512064" cy="51206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9" name="Google Shape;25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174" y="5141854"/>
            <a:ext cx="286756" cy="2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9"/>
          <p:cNvSpPr txBox="1"/>
          <p:nvPr/>
        </p:nvSpPr>
        <p:spPr>
          <a:xfrm>
            <a:off x="1243570" y="45994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1732121" y="4645175"/>
            <a:ext cx="97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Refine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1417320" y="5138928"/>
            <a:ext cx="5577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Re-run the segmentation without the binary campaign flags and the aggregate features (using them for profiling only) — the single change most likely to sharpen the segments.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589520" y="1280160"/>
            <a:ext cx="4053535" cy="2331720"/>
          </a:xfrm>
          <a:prstGeom prst="roundRect">
            <a:avLst>
              <a:gd fmla="val 4706" name="adj"/>
            </a:avLst>
          </a:prstGeom>
          <a:solidFill>
            <a:srgbClr val="E3F3F3"/>
          </a:solidFill>
          <a:ln cap="flat" cmpd="sng" w="9525">
            <a:solidFill>
              <a:srgbClr val="E3F3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818120" y="1463040"/>
            <a:ext cx="384048" cy="38404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5" name="Google Shape;26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2611" y="1547531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9"/>
          <p:cNvSpPr txBox="1"/>
          <p:nvPr/>
        </p:nvSpPr>
        <p:spPr>
          <a:xfrm>
            <a:off x="8321040" y="1444752"/>
            <a:ext cx="3093415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Where the value comes from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7818120" y="1965960"/>
            <a:ext cx="359633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Redirect broad spend away from the 58.8% budget base, where broad campaigns are likely wasted.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Concentrate campaign effort on the 97 + 112 customers with proven response — cost of contact is trivial relative to their response propensity.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Quality-led cross-sell and up-sell to the 713 customer affluent core through catalog and store channels.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589520" y="3840480"/>
            <a:ext cx="4053535" cy="2377440"/>
          </a:xfrm>
          <a:prstGeom prst="roundRect">
            <a:avLst>
              <a:gd fmla="val 4615" name="adj"/>
            </a:avLst>
          </a:prstGeom>
          <a:solidFill>
            <a:srgbClr val="FFF6E5"/>
          </a:solidFill>
          <a:ln cap="flat" cmpd="sng" w="9525">
            <a:solidFill>
              <a:srgbClr val="FFF6E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7818120" y="4023360"/>
            <a:ext cx="384048" cy="384048"/>
          </a:xfrm>
          <a:prstGeom prst="ellipse">
            <a:avLst/>
          </a:prstGeom>
          <a:solidFill>
            <a:srgbClr val="E0A23A"/>
          </a:solidFill>
          <a:ln cap="flat" cmpd="sng" w="12700">
            <a:solidFill>
              <a:srgbClr val="E0A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0" name="Google Shape;27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2611" y="4107851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9"/>
          <p:cNvSpPr txBox="1"/>
          <p:nvPr/>
        </p:nvSpPr>
        <p:spPr>
          <a:xfrm>
            <a:off x="8321040" y="4005072"/>
            <a:ext cx="3093415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Keep in mind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7818120" y="4526280"/>
            <a:ext cx="3596335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The segments have not yet been validated against business outcomes — all evaluation so far is internal. The pilot closes that gap.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Separation scores consistently favor a coarse two-group split; four segments is a deliberate trade-off of some separation for segments the team can act 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The model needs its multi-start selection procedure whenever it is refit.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b5ba1fa61_0_0"/>
          <p:cNvSpPr txBox="1"/>
          <p:nvPr/>
        </p:nvSpPr>
        <p:spPr>
          <a:xfrm>
            <a:off x="548640" y="411480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1" sz="3000">
              <a:solidFill>
                <a:srgbClr val="2B3A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b5ba1fa61_0_0"/>
          <p:cNvSpPr/>
          <p:nvPr/>
        </p:nvSpPr>
        <p:spPr>
          <a:xfrm>
            <a:off x="548640" y="1234440"/>
            <a:ext cx="2602200" cy="4983600"/>
          </a:xfrm>
          <a:prstGeom prst="roundRect">
            <a:avLst>
              <a:gd fmla="val 4217" name="adj"/>
            </a:avLst>
          </a:prstGeom>
          <a:solidFill>
            <a:srgbClr val="E7E2F3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b5ba1fa61_0_0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9900FF"/>
          </a:solidFill>
          <a:ln cap="flat" cmpd="sng" w="12700">
            <a:solidFill>
              <a:srgbClr val="2B3A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2" name="Google Shape;282;g3fb5ba1fa6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04" y="15179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fb5ba1fa61_0_0"/>
          <p:cNvSpPr txBox="1"/>
          <p:nvPr/>
        </p:nvSpPr>
        <p:spPr>
          <a:xfrm>
            <a:off x="731520" y="2057400"/>
            <a:ext cx="223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The problem and the approach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b5ba1fa61_0_0"/>
          <p:cNvSpPr txBox="1"/>
          <p:nvPr/>
        </p:nvSpPr>
        <p:spPr>
          <a:xfrm>
            <a:off x="731470" y="2788805"/>
            <a:ext cx="22365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Marketing time, money, and other resources are limited, so 2,240 customers described by 27 attributes were segmented on 25 standardized behavioral measures using five clustering methods, compared on one yardstick — the silhouette score — and then on whether the segments are actionable.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b5ba1fa61_0_0"/>
          <p:cNvSpPr/>
          <p:nvPr/>
        </p:nvSpPr>
        <p:spPr>
          <a:xfrm>
            <a:off x="3379394" y="1234440"/>
            <a:ext cx="2602200" cy="4983600"/>
          </a:xfrm>
          <a:prstGeom prst="roundRect">
            <a:avLst>
              <a:gd fmla="val 4217" name="adj"/>
            </a:avLst>
          </a:prstGeom>
          <a:solidFill>
            <a:srgbClr val="E2EBD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D9EAD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b5ba1fa61_0_0"/>
          <p:cNvSpPr/>
          <p:nvPr/>
        </p:nvSpPr>
        <p:spPr>
          <a:xfrm>
            <a:off x="3562274" y="1417320"/>
            <a:ext cx="457200" cy="4572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2B3A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7" name="Google Shape;287;g3fb5ba1fa6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2858" y="15179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fb5ba1fa61_0_0"/>
          <p:cNvSpPr txBox="1"/>
          <p:nvPr/>
        </p:nvSpPr>
        <p:spPr>
          <a:xfrm>
            <a:off x="3562274" y="2057400"/>
            <a:ext cx="223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What was found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t/>
            </a:r>
            <a:endParaRPr b="1" sz="1700">
              <a:solidFill>
                <a:srgbClr val="2B3A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b5ba1fa61_0_0"/>
          <p:cNvSpPr txBox="1"/>
          <p:nvPr/>
        </p:nvSpPr>
        <p:spPr>
          <a:xfrm>
            <a:off x="3562250" y="2626650"/>
            <a:ext cx="2236500" cy="3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Customers form four segments:</a:t>
            </a:r>
            <a:b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50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Budget-Conscious Low Engagers (58.8%)</a:t>
            </a:r>
            <a:b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50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Affluent High Spenders (31.8%)</a:t>
            </a:r>
            <a:b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50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Deal-Driven Campaign-4 Responders (5.0%)</a:t>
            </a:r>
            <a:b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50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Elite Multi-Campaign Responders (4.3%).</a:t>
            </a:r>
            <a:endParaRPr sz="1350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Income and spend are the main axes; the two small segments hold most of the campaign response.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b5ba1fa61_0_0"/>
          <p:cNvSpPr/>
          <p:nvPr/>
        </p:nvSpPr>
        <p:spPr>
          <a:xfrm>
            <a:off x="6210148" y="1234440"/>
            <a:ext cx="2602200" cy="4983600"/>
          </a:xfrm>
          <a:prstGeom prst="roundRect">
            <a:avLst>
              <a:gd fmla="val 4217" name="adj"/>
            </a:avLst>
          </a:prstGeom>
          <a:solidFill>
            <a:srgbClr val="FFF6E5"/>
          </a:solidFill>
          <a:ln cap="flat" cmpd="sng" w="9525">
            <a:solidFill>
              <a:srgbClr val="FFF6E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b5ba1fa61_0_0"/>
          <p:cNvSpPr/>
          <p:nvPr/>
        </p:nvSpPr>
        <p:spPr>
          <a:xfrm>
            <a:off x="6393028" y="1417320"/>
            <a:ext cx="457200" cy="457200"/>
          </a:xfrm>
          <a:prstGeom prst="ellipse">
            <a:avLst/>
          </a:prstGeom>
          <a:solidFill>
            <a:srgbClr val="E0A23A"/>
          </a:solidFill>
          <a:ln cap="flat" cmpd="sng" w="12700">
            <a:solidFill>
              <a:srgbClr val="E0A2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2" name="Google Shape;292;g3fb5ba1fa6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3612" y="15179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fb5ba1fa61_0_0"/>
          <p:cNvSpPr txBox="1"/>
          <p:nvPr/>
        </p:nvSpPr>
        <p:spPr>
          <a:xfrm>
            <a:off x="6393028" y="2057400"/>
            <a:ext cx="223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Proposed model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t/>
            </a:r>
            <a:endParaRPr b="1" sz="1700">
              <a:solidFill>
                <a:srgbClr val="2B3A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b5ba1fa61_0_0"/>
          <p:cNvSpPr txBox="1"/>
          <p:nvPr/>
        </p:nvSpPr>
        <p:spPr>
          <a:xfrm>
            <a:off x="6393003" y="2788805"/>
            <a:ext cx="22365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lang="en-US" sz="135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A Gaussian Mixture Model with four segments: the best separation of any four-segment solution, a membership probability for every customer, and a solution that recurred across multiple random starts.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b5ba1fa61_0_0"/>
          <p:cNvSpPr/>
          <p:nvPr/>
        </p:nvSpPr>
        <p:spPr>
          <a:xfrm>
            <a:off x="9040901" y="1234440"/>
            <a:ext cx="2602200" cy="4983600"/>
          </a:xfrm>
          <a:prstGeom prst="roundRect">
            <a:avLst>
              <a:gd fmla="val 4217" name="adj"/>
            </a:avLst>
          </a:prstGeom>
          <a:solidFill>
            <a:srgbClr val="E3F3F3"/>
          </a:solidFill>
          <a:ln cap="flat" cmpd="sng" w="9525">
            <a:solidFill>
              <a:srgbClr val="E3F3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b5ba1fa61_0_0"/>
          <p:cNvSpPr/>
          <p:nvPr/>
        </p:nvSpPr>
        <p:spPr>
          <a:xfrm>
            <a:off x="9223781" y="1417320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7" name="Google Shape;297;g3fb5ba1fa61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4365" y="15179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fb5ba1fa61_0_0"/>
          <p:cNvSpPr txBox="1"/>
          <p:nvPr/>
        </p:nvSpPr>
        <p:spPr>
          <a:xfrm>
            <a:off x="9223731" y="1965963"/>
            <a:ext cx="2236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Recommendations and next steps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t/>
            </a:r>
            <a:endParaRPr b="1" sz="1700">
              <a:solidFill>
                <a:srgbClr val="2B3A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b5ba1fa61_0_0"/>
          <p:cNvSpPr txBox="1"/>
          <p:nvPr/>
        </p:nvSpPr>
        <p:spPr>
          <a:xfrm>
            <a:off x="9223756" y="2788805"/>
            <a:ext cx="22365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AutoNum type="arabicPeriod"/>
            </a:pPr>
            <a:r>
              <a:rPr lang="en-US" sz="130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Premium, VIP-style treatment for elite responders</a:t>
            </a:r>
            <a:br>
              <a:rPr lang="en-US" sz="130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AutoNum type="arabicPeriod"/>
            </a:pPr>
            <a:r>
              <a:rPr lang="en-US" sz="130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Quality-led cross-sell for the affluent core</a:t>
            </a:r>
            <a:br>
              <a:rPr lang="en-US" sz="130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AutoNum type="arabicPeriod"/>
            </a:pPr>
            <a:r>
              <a:rPr lang="en-US" sz="130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Deal-led email and web offers plus service recovery for deal-driven responders</a:t>
            </a:r>
            <a:br>
              <a:rPr lang="en-US" sz="130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Calibri"/>
              <a:buAutoNum type="arabicPeriod"/>
            </a:pPr>
            <a:r>
              <a:rPr lang="en-US" sz="1300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Low-cost digital value messaging for the budget base — validated with an A/B pilot before scaling, then refit with the same procedure.</a:t>
            </a:r>
            <a:endParaRPr sz="1300">
              <a:solidFill>
                <a:srgbClr val="1F2A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b5ba1fa61_0_0"/>
          <p:cNvSpPr txBox="1"/>
          <p:nvPr/>
        </p:nvSpPr>
        <p:spPr>
          <a:xfrm>
            <a:off x="11094415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"/>
          <p:cNvSpPr txBox="1"/>
          <p:nvPr/>
        </p:nvSpPr>
        <p:spPr>
          <a:xfrm>
            <a:off x="548640" y="2194560"/>
            <a:ext cx="1109441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548640" y="329184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FE7E8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7E8"/>
                </a:solidFill>
                <a:latin typeface="Calibri"/>
                <a:ea typeface="Calibri"/>
                <a:cs typeface="Calibri"/>
                <a:sym typeface="Calibri"/>
              </a:rPr>
              <a:t>Appendix: full model comparison · choosing the number of segments · data preparation · hierarchical, DBSCAN and GMM diagnostics · segment profile 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 txBox="1"/>
          <p:nvPr/>
        </p:nvSpPr>
        <p:spPr>
          <a:xfrm>
            <a:off x="548640" y="37033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FE7E8"/>
                </a:solidFill>
                <a:latin typeface="Calibri"/>
                <a:ea typeface="Calibri"/>
                <a:cs typeface="Calibri"/>
                <a:sym typeface="Calibri"/>
              </a:rPr>
              <a:t>Supporting analyses from the notebook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Appendix — Data preparation and feature engineering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3" name="Google Shape;3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131" y="1318931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4"/>
          <p:cNvSpPr txBox="1"/>
          <p:nvPr/>
        </p:nvSpPr>
        <p:spPr>
          <a:xfrm>
            <a:off x="1051560" y="1216152"/>
            <a:ext cx="5440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Treatments applied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548640" y="1737360"/>
            <a:ext cx="58521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Marital status: 8 categories (incl. 'Alone', 'Absurd', 'YOLO') consolidated to Single vs Partnered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Income of $666,666 replaced with $136,016.42 — the mean of the other customers earning &gt; $100k, with the suspect value itself excluded from the average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24 missing incomes imputed with $51,512.05 — the mean of customers earning &lt; $100k (median $51,250, so the mean is not tail-distorted)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3 implausible birth years (1893, 1899, 1900) replaced with the median; oldest customer is now 76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'Response' renamed AcceptedCmp6; Education one-hot encoded; Is_Single flag created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7" name="Google Shape;32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131" y="4427891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4"/>
          <p:cNvSpPr txBox="1"/>
          <p:nvPr/>
        </p:nvSpPr>
        <p:spPr>
          <a:xfrm>
            <a:off x="1051560" y="4325112"/>
            <a:ext cx="5440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Engineered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548640" y="4846320"/>
            <a:ext cx="5852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Age · Total_Dependents · Family_Size · Enrollment_Days (tenure)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Total_Amount_Spent · Total_Purchases · Amount_Per_Purchase · Total_Offers_Accepted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25 behavioral features standardized (z-scores) for clustering; demographics kept as profiling attributes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064_img19.png" id="330" name="Google Shape;33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6368" y="1188720"/>
            <a:ext cx="4148319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4"/>
          <p:cNvSpPr txBox="1"/>
          <p:nvPr/>
        </p:nvSpPr>
        <p:spPr>
          <a:xfrm>
            <a:off x="6858000" y="5715000"/>
            <a:ext cx="47850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Correlation heatmap after feature engineering. Income is the major driver of spending and campaign acceptance; households with more dependents spend less; longer-tenured customers spend more.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Appendix — Model comparison on the chosen metric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9" name="Google Shape;339;p12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{E40CDDF8-2CF3-45D2-8817-105F1AFA2E47}</a:tableStyleId>
              </a:tblPr>
              <a:tblGrid>
                <a:gridCol w="2377450"/>
                <a:gridCol w="1005850"/>
                <a:gridCol w="1097275"/>
                <a:gridCol w="2194550"/>
                <a:gridCol w="44165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Clusters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Silhouette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Cluster sizes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K-Means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913 / 1,327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raw separation, but only "high vs low value"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K-Medoids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1,237 / 1,003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balanced split; centers are real customers; weaker separation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Hierarchical (Ward)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242 / 580 / 519 / 899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Four actionable segments; lowest separation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GMM (hard labels)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8B8D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F8B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1,318 / 713 / 112 / 97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4-segment solution; nearly matches the K=2 optimum; soft assignments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DBSCAN (eps=4, min_samples=20)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+ noise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1,725 / 74 / 107 + 334 noise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Outlier lens: 334 customers (15%) left unassigned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0" name="Google Shape;340;p12"/>
          <p:cNvSpPr txBox="1"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Silhouette computed on the standardized clustering features. DBSCAN scored on non-noise points; GMM on hard (most-probable) assignments. Source: model comparison table in the notebook.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48640" y="4846320"/>
            <a:ext cx="356616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 txBox="1"/>
          <p:nvPr/>
        </p:nvSpPr>
        <p:spPr>
          <a:xfrm>
            <a:off x="731520" y="489204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0.308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 txBox="1"/>
          <p:nvPr/>
        </p:nvSpPr>
        <p:spPr>
          <a:xfrm>
            <a:off x="731520" y="56052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K-Means, K=2 — highest score, coarse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297680" y="4846320"/>
            <a:ext cx="3566160" cy="1371600"/>
          </a:xfrm>
          <a:prstGeom prst="roundRect">
            <a:avLst>
              <a:gd fmla="val 8000" name="adj"/>
            </a:avLst>
          </a:prstGeom>
          <a:solidFill>
            <a:srgbClr val="E3F3F3"/>
          </a:solidFill>
          <a:ln cap="flat" cmpd="sng" w="9525">
            <a:solidFill>
              <a:srgbClr val="E3F3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4480560" y="489204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0.305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 txBox="1"/>
          <p:nvPr/>
        </p:nvSpPr>
        <p:spPr>
          <a:xfrm>
            <a:off x="4480560" y="56052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GMM, 4 components — chosen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8046720" y="4846320"/>
            <a:ext cx="3593592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 txBox="1"/>
          <p:nvPr/>
        </p:nvSpPr>
        <p:spPr>
          <a:xfrm>
            <a:off x="8229600" y="489204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0.205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8229600" y="56052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Hierarchical, 4 clusters — corroborates 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Appendix — Choosing the number of segments (K-Means)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 txBox="1"/>
          <p:nvPr/>
        </p:nvSpPr>
        <p:spPr>
          <a:xfrm>
            <a:off x="548640" y="1188720"/>
            <a:ext cx="531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Elbow method (within-cluster SSE)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081_img22.png" id="358" name="Google Shape;3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557" y="1554480"/>
            <a:ext cx="4610774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 txBox="1"/>
          <p:nvPr/>
        </p:nvSpPr>
        <p:spPr>
          <a:xfrm>
            <a:off x="548640" y="4983480"/>
            <a:ext cx="5318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Steep drop to K=2, notable drops to K=3 and K=4, then the curve flattens — K=4 reads as the elbow.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6324448" y="1188720"/>
            <a:ext cx="5318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Silhouette score by 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083_img23.png" id="361" name="Google Shape;3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5903" y="1554480"/>
            <a:ext cx="4495696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3"/>
          <p:cNvSpPr txBox="1"/>
          <p:nvPr/>
        </p:nvSpPr>
        <p:spPr>
          <a:xfrm>
            <a:off x="6324448" y="4983480"/>
            <a:ext cx="5318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Highest at K=2 (about 0.31), declining through K=3 (0.28) and K=4 (0.23).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548640" y="5532120"/>
            <a:ext cx="11094415" cy="914400"/>
          </a:xfrm>
          <a:prstGeom prst="roundRect">
            <a:avLst>
              <a:gd fmla="val 12000" name="adj"/>
            </a:avLst>
          </a:prstGeom>
          <a:solidFill>
            <a:srgbClr val="E3F3F3"/>
          </a:solidFill>
          <a:ln cap="flat" cmpd="sng" w="9525">
            <a:solidFill>
              <a:srgbClr val="E3F3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777240" y="5596128"/>
            <a:ext cx="106372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When the two disagree, the data has no compact, well-separated clusters beyond a coarse high-value / low-value split — the K=4 partition cuts through denser regions. K=2 is used for K-Means; the 4-segment granularity marketing needs is pursued with hierarchical clustering and the Gaussian Mixture Model, and the trade-off is quantified in the model comparison.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Appendix — K-Means and K-Medoids (K = 2)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088_img24.png" id="372" name="Google Shape;3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261" y="1188720"/>
            <a:ext cx="4873366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0"/>
          <p:cNvSpPr txBox="1"/>
          <p:nvPr/>
        </p:nvSpPr>
        <p:spPr>
          <a:xfrm>
            <a:off x="548640" y="5303520"/>
            <a:ext cx="531860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K-Means (K=2) projected onto 2 principal components. Sizes 913 / 1,327; silhouette 0.308. Cluster 0: income about $71,100, total spend about $1,232; Cluster 1: income about $38,900, total spend about $175.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101_img26.png" id="374" name="Google Shape;3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7069" y="1188720"/>
            <a:ext cx="4873366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0"/>
          <p:cNvSpPr txBox="1"/>
          <p:nvPr/>
        </p:nvSpPr>
        <p:spPr>
          <a:xfrm>
            <a:off x="6324448" y="5303520"/>
            <a:ext cx="531860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K-Medoids (K=2) projected onto 2 principal components. Sizes 1,237 / 1,003; silhouette 0.2418. Draws the boundary lower than K-Means — about 90 more customers in the higher-value cluster, a purer low cluster (median spend $62).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Appendix — Hierarchical clustering (Ward linkage)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120_img30.png" id="383" name="Google Shape;38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188720"/>
            <a:ext cx="7475668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5"/>
          <p:cNvSpPr txBox="1"/>
          <p:nvPr/>
        </p:nvSpPr>
        <p:spPr>
          <a:xfrm>
            <a:off x="548640" y="406908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Ward-linkage dendrogram with the cut at distance 75, giving 4 clusters of 899 / 580 / 519 / 242 customers.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117_img29.png" id="385" name="Google Shape;38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1040" y="1293674"/>
            <a:ext cx="3322015" cy="262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5"/>
          <p:cNvSpPr txBox="1"/>
          <p:nvPr/>
        </p:nvSpPr>
        <p:spPr>
          <a:xfrm>
            <a:off x="8321040" y="4069080"/>
            <a:ext cx="33220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Silhouette by number of clusters: peaks at 2 (0.29), 0.20 at 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548640" y="4617720"/>
            <a:ext cx="11094415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777240" y="4709160"/>
            <a:ext cx="106372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Cophenetic correlation by linkage (Euclidean): single 0.8467 · average 0.8995 · complete 0.8214 · ward 0.5389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 txBox="1"/>
          <p:nvPr/>
        </p:nvSpPr>
        <p:spPr>
          <a:xfrm>
            <a:off x="777240" y="5074920"/>
            <a:ext cx="1063721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Average linkage preserves pairwise distances best but chains into unbalanced clusters; Ward optimizes within-cluster variance and produces the balanced, compact groups the problem needs. Its 4-cluster solution corroborates the GMM architecture: elite campaign responders (242), mid-market deal seekers (580), affluent quiet spenders (519), budget-conscious low spenders (899).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Appendix — DBSCAN tuning and result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137_img33.png" id="397" name="Google Shape;3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681" y="1188720"/>
            <a:ext cx="5198526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6"/>
          <p:cNvSpPr txBox="1"/>
          <p:nvPr/>
        </p:nvSpPr>
        <p:spPr>
          <a:xfrm>
            <a:off x="548640" y="4160520"/>
            <a:ext cx="531860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k-distance plot (k = min_samples = 20): the curve bends in roughly the 4–6 range; about 90% of customers have a 20-NN distance below 5.2, so eps = 4 sits near the knee.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141_img34.png" id="399" name="Google Shape;39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074" y="1027951"/>
            <a:ext cx="3933726" cy="32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6"/>
          <p:cNvSpPr txBox="1"/>
          <p:nvPr/>
        </p:nvSpPr>
        <p:spPr>
          <a:xfrm>
            <a:off x="6324448" y="4274820"/>
            <a:ext cx="531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DBSCAN clusters (eps=4, min_samples=20) projected onto 2 principal components.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548640" y="4892040"/>
            <a:ext cx="11094415" cy="1143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6"/>
          <p:cNvSpPr txBox="1"/>
          <p:nvPr/>
        </p:nvSpPr>
        <p:spPr>
          <a:xfrm>
            <a:off x="777240" y="4983480"/>
            <a:ext cx="1063721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Grid search (eps 1–5 × min_samples 5/10/20): eps ≤ 2 discards 38–78% of customers as noise; eps = 5 collapses nearly everyone into one cluster (its silhouette of about 0.50 is an artifact of that triviality). eps = 4, min_samples = 20 gives 3 clusters plus 334 noise points (15%), silhouette 0.221 on clustered points. Cluster 1 (74 customers) is 100% campaign-4 acceptors and cluster 2 (107) is 100% campaign-3 acceptors — DBSCAN is used here as an outlier lens, not the segmentation of record.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Appendix — GMM: choosing the number of components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1665390" y="1225278"/>
            <a:ext cx="384000" cy="3840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1" name="Google Shape;41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9869" y="1309781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7"/>
          <p:cNvSpPr txBox="1"/>
          <p:nvPr/>
        </p:nvSpPr>
        <p:spPr>
          <a:xfrm>
            <a:off x="2133931" y="1234450"/>
            <a:ext cx="2184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How many components?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548640" y="17373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BIC and AIC decrease monotonically through 9 components with no interior minimum — the standardized binary campaign flags are not Gaussian, so the criteria cannot pick K alone. Four components were chosen for parsimony, consistency with the elbow and the 4-branch dendrogram, and interpretability.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1749915" y="3278125"/>
            <a:ext cx="384000" cy="3840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5" name="Google Shape;41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4394" y="3362616"/>
            <a:ext cx="215067" cy="215067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7"/>
          <p:cNvSpPr txBox="1"/>
          <p:nvPr/>
        </p:nvSpPr>
        <p:spPr>
          <a:xfrm>
            <a:off x="2298106" y="3259850"/>
            <a:ext cx="1987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Is the solution stable?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 txBox="1"/>
          <p:nvPr/>
        </p:nvSpPr>
        <p:spPr>
          <a:xfrm>
            <a:off x="548640" y="3703320"/>
            <a:ext cx="54864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The fitting algorithm (EM) only finds local optima, so the model was fit from 15 random initializations. The solution with 1,318 / 713 / 112 / 97 customers recurred across seeds 9, 11, 14 and 15 at the best log-likelihood (26.771), with seed 6 nearly identical. Any solution with a component under 50 customers (about 2%) was screened out as a spurious maximum. Selected: random_state = 9. Full table on the next slide.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548640" y="5303520"/>
            <a:ext cx="5486400" cy="914400"/>
          </a:xfrm>
          <a:prstGeom prst="roundRect">
            <a:avLst>
              <a:gd fmla="val 12000" name="adj"/>
            </a:avLst>
          </a:prstGeom>
          <a:solidFill>
            <a:srgbClr val="E3F3F3"/>
          </a:solidFill>
          <a:ln cap="flat" cmpd="sng" w="9525">
            <a:solidFill>
              <a:srgbClr val="E3F3F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731520" y="521208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0.3047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 txBox="1"/>
          <p:nvPr/>
        </p:nvSpPr>
        <p:spPr>
          <a:xfrm>
            <a:off x="731532" y="5719112"/>
            <a:ext cx="512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silhouette on hard assignments — best of any 4-segment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153_img36.png" id="421" name="Google Shape;42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9556" y="1188720"/>
            <a:ext cx="4304743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7"/>
          <p:cNvSpPr txBox="1"/>
          <p:nvPr/>
        </p:nvSpPr>
        <p:spPr>
          <a:xfrm>
            <a:off x="6400800" y="3493008"/>
            <a:ext cx="52422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BIC / AIC across component counts (lower is better)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158_img37.png" id="423" name="Google Shape;42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37449" y="3794760"/>
            <a:ext cx="2768958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/>
        </p:nvSpPr>
        <p:spPr>
          <a:xfrm>
            <a:off x="6400800" y="6108192"/>
            <a:ext cx="52422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GMM clusters projected onto 2 principal components (K=4)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Appendix — GMM multi-start stability (15 initializations)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2" name="Google Shape;432;p18"/>
          <p:cNvGraphicFramePr/>
          <p:nvPr/>
        </p:nvGraphicFramePr>
        <p:xfrm>
          <a:off x="5486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{E40CDDF8-2CF3-45D2-8817-105F1AFA2E47}</a:tableStyleId>
              </a:tblPr>
              <a:tblGrid>
                <a:gridCol w="822950"/>
                <a:gridCol w="3108950"/>
                <a:gridCol w="18288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cluster sizes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log-likelihood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(1113, 845, 166, 116)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22.863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(997, 966, 151, 126)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25.734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(968, 940, 231, 101)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25.752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(998, 966, 178, 98)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25.806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(1000, 965, 199, 76)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25.435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(1318, 713, 109, 100)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26.766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(1110, 848, 166, 116)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22.862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(997, 966, 151, 126)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25.734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(1318, 713, 112, 97)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26.771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(1000, 965, 199, 76)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25.435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(1318, 713, 112, 97)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26.771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(1258, 710, 243, 29)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21.139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6E5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(1252, 650, 180, 158)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25.235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(1318, 713, 112, 97)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26.771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(1318, 713, 112, 97)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26.771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3F3"/>
                    </a:solidFill>
                  </a:tcPr>
                </a:tc>
              </a:tr>
            </a:tbl>
          </a:graphicData>
        </a:graphic>
      </p:graphicFrame>
      <p:sp>
        <p:nvSpPr>
          <p:cNvPr id="433" name="Google Shape;433;p18"/>
          <p:cNvSpPr/>
          <p:nvPr/>
        </p:nvSpPr>
        <p:spPr>
          <a:xfrm>
            <a:off x="6675120" y="1234440"/>
            <a:ext cx="4967935" cy="466344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9525">
            <a:solidFill>
              <a:srgbClr val="D9DE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6903720" y="1371600"/>
            <a:ext cx="45107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Reading the 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 txBox="1"/>
          <p:nvPr/>
        </p:nvSpPr>
        <p:spPr>
          <a:xfrm>
            <a:off x="6903720" y="1828800"/>
            <a:ext cx="4510735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15 initializations converged to several different solutions — the local-optima problem made visible.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The best-likelihood non-degenerate solution (26.771; sizes 1,318 / 713 / 112 / 97) recurs across seeds 9, 11, 14 and 15, with seed 6 nearly identical.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Seed 12 carved out a 29-customer component at a worse likelihood; separate experimentation showed rare runs reach higher likelihood via a 21-customer component — spurious maxima of unconstrained mixtures.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Rule applied: best log-likelihood among solutions whose smallest component has at least 50 customers (about 2%), ties broken by lowest seed → random_state = 9.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rPr>
              <a:t>Adopted solution: silhouette 0.3047 on hard assignments.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Appendix — GMM segment profile (original units, segment means)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3" name="Google Shape;443;p19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{E40CDDF8-2CF3-45D2-8817-105F1AFA2E47}</a:tableStyleId>
              </a:tblPr>
              <a:tblGrid>
                <a:gridCol w="2651750"/>
                <a:gridCol w="1691650"/>
                <a:gridCol w="1691650"/>
                <a:gridCol w="1691650"/>
                <a:gridCol w="1691650"/>
                <a:gridCol w="16733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C0 Deal-driven (112)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C1 Elite (97)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C2 Budget (1,318)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C3 Affluent (713)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3A4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 of customers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58.8%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31.8%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Income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52,220.96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80,170.00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39,425.67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71,384.69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52,002.48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MntWines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459.19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847.13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108.87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566.23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303.94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MntMeatProducts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86.56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375.11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41.40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383.34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166.95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Total_Amount_Spent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625.64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1425.90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199.77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1241.67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605.80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Amount_Per_Purchase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31.72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93.24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14.56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59.95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33.27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Total_Purchases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18.89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10.63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21.65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14.86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NumDealsPurchases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NumCatalogPurchases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NumStorePurchases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6.59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7.62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8.40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NumWebVisitsMonth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6.52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6.22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5.32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Total_Offers_Accepted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AcceptedCmp4 (rate)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Complain (rate)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50.76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47.55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45.90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48.68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47.10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Total_Dependents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3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4" name="Google Shape;444;p19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Source: original-units GMM profile table in the notebook (cluster means; demographic attributes were profiling-only and not used for clustering).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A4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B3A42"/>
                </a:solidFill>
                <a:latin typeface="Calibri"/>
                <a:ea typeface="Calibri"/>
                <a:cs typeface="Calibri"/>
                <a:sym typeface="Calibri"/>
              </a:rPr>
              <a:t>Appendix — GMM segment profiles across all 25 clustering features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pstone/deck/figs/cell161_img38.png" id="452" name="Google Shape;4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143000"/>
            <a:ext cx="10515598" cy="47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1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Boxplots of each standardized clustering feature by GMM segment. For the two small responder segments (clusters 0 and 1), several campaign-acceptance flags render as full boxes rather than flat lines — the campaign-response signature that defines them.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2026-09-13T19:40:56Z</dcterms:created>
  <dc:creator>Ashton</dc:creator>
</cp:coreProperties>
</file>